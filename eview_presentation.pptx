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e&amp;view is a full-stack AI interview portal built with Next.js, Vapi, Firebase, and Groq.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recruiting is slow and subjective. e&amp;view replaces the first-round interview with an always-available AI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features covering the full recruiting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Entirely TypeScript. Next.js is both frontend and backend. Firebase stores everything. Vapi, Groq, Resend are the AI and communication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Vapi handles all the complex real-time audio. We configure the assistant and listen to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is the hub. Vapi handles voice. Firebase stores data. Groq generates feedback. Resend sends invite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isAdmin flag in Firestore controls which view a user gets. Admins auto-redirect to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steps 3-5 are fully automated. No human involvement from interview to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Vapi manages all audio streaming. Our app just listens to events and collects the transcript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parts: 1) Starting the call with questions injected. 2) Collecting transcript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webhook is the safety net. Vapi always calls this regardless of client connection. Duplicate check prevents double-saving.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Groq is fast — typically 2-4 seconds to score. generateObject with Zod schema guarantees the output is always structured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Open for questions. Switch to browser for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548640"/>
            <a:ext cx="3474720" cy="3474720"/>
          </a:xfrm>
          <a:prstGeom prst="ellipse">
            <a:avLst/>
          </a:prstGeom>
          <a:solidFill>
            <a:srgbClr val="7B75E8">
              <a:alpha val="12000"/>
            </a:srgbClr>
          </a:solidFill>
          <a:ln w="12700">
            <a:solidFill>
              <a:srgbClr val="7B75E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7B75E8">
              <a:alpha val="12000"/>
            </a:srgbClr>
          </a:solidFill>
          <a:ln w="12700">
            <a:solidFill>
              <a:srgbClr val="7B75E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e&amp;view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Interview Portal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4015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Interviews  |  AI Feedback  |  Recruiter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42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3474720" cy="1508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human interviewers is slow and costly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inconsistency across interviewers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scoring system for candidates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invite-only positions at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1A1E32"/>
          </a:solidFill>
          <a:ln w="12700">
            <a:solidFill>
              <a:srgbClr val="7B75E8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36592" y="1042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36592" y="1499616"/>
            <a:ext cx="3840480" cy="1508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interviewer available 24 / 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structured questioning every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scores 5 categories instantly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leaderboard and invite control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4632" y="1088136"/>
            <a:ext cx="45720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4632" y="1618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Interviews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Vapi-powered real-time voice calls with a professional AI interviewer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88136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618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AI Feedback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scores candidates across 5 categories with a full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96012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088136"/>
            <a:ext cx="457200" cy="457200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1928" y="16184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Positions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positions with description, tech stack and questions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28803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" y="3008376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" y="35387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 invite-only visibility per position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008376"/>
            <a:ext cx="457200" cy="4572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35387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Invitations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delivers styled HTML invitation emails automatically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44768" y="28803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81928" y="3008376"/>
            <a:ext cx="457200" cy="45720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35387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81928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with scores, reports and position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2064" y="11338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3B82F6">
              <a:alpha val="78000"/>
            </a:srgbClr>
          </a:solidFill>
          <a:ln w="1270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1338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26864" y="987552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91456" y="11338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78000"/>
            </a:srgbClr>
          </a:solidFill>
          <a:ln w="12700">
            <a:solidFill>
              <a:srgbClr val="8B5CF6">
                <a:alpha val="7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11338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9744" y="1536192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Server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(NoSQL)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980944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" y="31272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C4899">
              <a:alpha val="78000"/>
            </a:srgbClr>
          </a:solidFill>
          <a:ln w="12700">
            <a:solidFill>
              <a:srgbClr val="EC4899">
                <a:alpha val="7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127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Voice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529584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AI (Voice SDK)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llama-3.3-70b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(ASR)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2980944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91456" y="31272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78000"/>
            </a:srgbClr>
          </a:solidFill>
          <a:ln w="12700">
            <a:solidFill>
              <a:srgbClr val="10B981">
                <a:alpha val="7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127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3529584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(Hosting)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(TTS)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Vapi?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937760" cy="3749040"/>
          </a:xfrm>
          <a:prstGeom prst="roundRect">
            <a:avLst>
              <a:gd name="adj" fmla="val 2927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AI Platform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4526280" cy="2971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AI — handles ASR, AI reasoning, and TTS in one platform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WebRTC-based — works directly in the browser, no phone needed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assistants and workflows — define conversation flows with nodes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full transcript to your server via webhooks when call ends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use: ElevenLabs (TTS) + Deepgram (ASR) + GPT-4 through Vapi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00400" cy="3749040"/>
          </a:xfrm>
          <a:prstGeom prst="roundRect">
            <a:avLst>
              <a:gd name="adj" fmla="val 3429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Vapi Call Loop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600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2002536"/>
            <a:ext cx="0" cy="173736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176272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1762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Deepgram: ASR to 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2578608"/>
            <a:ext cx="0" cy="173736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752344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7523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reasons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3154680"/>
            <a:ext cx="0" cy="173736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3328416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32841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ElevenLabs: to voice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730752"/>
            <a:ext cx="0" cy="173736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3904488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04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hears reply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46120" y="1901952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A1E32"/>
          </a:solidFill>
          <a:ln w="12700">
            <a:solidFill>
              <a:srgbClr val="7B75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46120" y="2029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4612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Server 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+ Firebase SDK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71A24"/>
          </a:solidFill>
          <a:ln w="12700">
            <a:solidFill>
              <a:srgbClr val="8B5CF6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86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Vapi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SDK / WebRTC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7772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71A24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886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252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71A24"/>
          </a:solidFill>
          <a:ln w="12700">
            <a:solidFill>
              <a:srgbClr val="EC489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72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LLM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538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gen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0632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71A24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172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538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Invitations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777240" cy="1239012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5897880" y="1325880"/>
            <a:ext cx="777240" cy="1239012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468880" y="2564892"/>
            <a:ext cx="777240" cy="1046988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564892"/>
            <a:ext cx="777240" cy="1046988"/>
          </a:xfrm>
          <a:prstGeom prst="line">
            <a:avLst/>
          </a:prstGeom>
          <a:noFill/>
          <a:ln w="19050">
            <a:solidFill>
              <a:srgbClr val="6870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343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71A24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4343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71A24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227832"/>
            <a:ext cx="0" cy="1115568"/>
          </a:xfrm>
          <a:prstGeom prst="line">
            <a:avLst/>
          </a:prstGeom>
          <a:noFill/>
          <a:ln w="190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227832"/>
            <a:ext cx="0" cy="1115568"/>
          </a:xfrm>
          <a:prstGeom prst="line">
            <a:avLst/>
          </a:prstGeom>
          <a:noFill/>
          <a:ln w="19050">
            <a:solidFill>
              <a:srgbClr val="F59E0B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User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932688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71A24"/>
          </a:solidFill>
          <a:ln w="12700">
            <a:solidFill>
              <a:srgbClr val="F59E0B">
                <a:alpha val="48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607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Recruiter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3566160" cy="2633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positions with title, level, tech stack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questions or write custom ones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visibility: Public or Invite-Only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invitations to specific candidates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candidate leaderboard with scores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close positions anytime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2336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87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64608" y="932688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71A24"/>
          </a:solidFill>
          <a:ln w="12700">
            <a:solidFill>
              <a:srgbClr val="3B82F6">
                <a:alpha val="48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10912" y="10607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0912" y="1517904"/>
            <a:ext cx="3566160" cy="2633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open positions on the home page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position details: stack, level, type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AI voice interview from the browser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naturally — AI listens and responds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instant detailed feedback report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across 5 evaluation categories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93776" y="1252728"/>
            <a:ext cx="438912" cy="438912"/>
          </a:xfrm>
          <a:prstGeom prst="ellipse">
            <a:avLst/>
          </a:prstGeom>
          <a:solidFill>
            <a:srgbClr val="8B5CF6">
              <a:alpha val="78000"/>
            </a:srgbClr>
          </a:solidFill>
          <a:ln w="12700">
            <a:solidFill>
              <a:srgbClr val="8B5CF6">
                <a:alpha val="7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2416" y="1088136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creates position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2416" y="1463040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tech stack, questions, visibility, invite emails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9601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82896" y="1252728"/>
            <a:ext cx="438912" cy="438912"/>
          </a:xfrm>
          <a:prstGeom prst="ellipse">
            <a:avLst/>
          </a:prstGeom>
          <a:solidFill>
            <a:srgbClr val="3B82F6">
              <a:alpha val="78000"/>
            </a:srgbClr>
          </a:solidFill>
          <a:ln w="12700">
            <a:solidFill>
              <a:srgbClr val="3B82F6">
                <a:alpha val="7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31536" y="1088136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sees position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31536" y="1463040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home page or received via email invitation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04288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" y="2596896"/>
            <a:ext cx="438912" cy="438912"/>
          </a:xfrm>
          <a:prstGeom prst="ellipse">
            <a:avLst/>
          </a:prstGeom>
          <a:solidFill>
            <a:srgbClr val="EC4899">
              <a:alpha val="78000"/>
            </a:srgbClr>
          </a:solidFill>
          <a:ln w="12700">
            <a:solidFill>
              <a:srgbClr val="EC4899">
                <a:alpha val="7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2432304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starts voice interview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807208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connects to Vapi — real-time WebRTC call begins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2304288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82896" y="2596896"/>
            <a:ext cx="438912" cy="438912"/>
          </a:xfrm>
          <a:prstGeom prst="ellipse">
            <a:avLst/>
          </a:prstGeom>
          <a:solidFill>
            <a:srgbClr val="F59E0B">
              <a:alpha val="78000"/>
            </a:srgbClr>
          </a:solidFill>
          <a:ln w="1270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31536" y="2432304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conducts the interview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1536" y="2807208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asks questions, listens, and responds naturally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648456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" y="3941064"/>
            <a:ext cx="438912" cy="438912"/>
          </a:xfrm>
          <a:prstGeom prst="ellipse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2416" y="37764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generates feedback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2416" y="4151376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sent to Groq — scores 5 categories instantly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3648456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82896" y="3941064"/>
            <a:ext cx="438912" cy="438912"/>
          </a:xfrm>
          <a:prstGeom prst="ellipse">
            <a:avLst/>
          </a:prstGeom>
          <a:solidFill>
            <a:srgbClr val="06B6D4">
              <a:alpha val="78000"/>
            </a:srgbClr>
          </a:solidFill>
          <a:ln w="12700">
            <a:solidFill>
              <a:srgbClr val="06B6D4">
                <a:alpha val="7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31536" y="37764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views leaderboard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31536" y="4151376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candidates, scores, detailed feedback reports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Input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from the moment the candidate speaks to when the transcript reaches our app: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1261872"/>
          </a:xfrm>
          <a:prstGeom prst="roundRect">
            <a:avLst>
              <a:gd name="adj" fmla="val 7246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865376"/>
            <a:ext cx="342900" cy="0"/>
          </a:xfrm>
          <a:prstGeom prst="line">
            <a:avLst/>
          </a:prstGeom>
          <a:noFill/>
          <a:ln w="25400">
            <a:solidFill>
              <a:srgbClr val="6870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1700" y="1234440"/>
            <a:ext cx="1371600" cy="1261872"/>
          </a:xfrm>
          <a:prstGeom prst="roundRect">
            <a:avLst>
              <a:gd name="adj" fmla="val 7246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1700" y="12344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to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3300" y="1865376"/>
            <a:ext cx="342900" cy="0"/>
          </a:xfrm>
          <a:prstGeom prst="line">
            <a:avLst/>
          </a:prstGeom>
          <a:noFill/>
          <a:ln w="25400">
            <a:solidFill>
              <a:srgbClr val="6870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234440"/>
            <a:ext cx="1371600" cy="1261872"/>
          </a:xfrm>
          <a:prstGeom prst="roundRect">
            <a:avLst>
              <a:gd name="adj" fmla="val 7246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2344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865376"/>
            <a:ext cx="342900" cy="0"/>
          </a:xfrm>
          <a:prstGeom prst="line">
            <a:avLst/>
          </a:prstGeom>
          <a:noFill/>
          <a:ln w="25400">
            <a:solidFill>
              <a:srgbClr val="6870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00700" y="1234440"/>
            <a:ext cx="1371600" cy="1261872"/>
          </a:xfrm>
          <a:prstGeom prst="roundRect">
            <a:avLst>
              <a:gd name="adj" fmla="val 7246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0700" y="12344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Voice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72300" y="1865376"/>
            <a:ext cx="342900" cy="0"/>
          </a:xfrm>
          <a:prstGeom prst="line">
            <a:avLst/>
          </a:prstGeom>
          <a:noFill/>
          <a:ln w="25400">
            <a:solidFill>
              <a:srgbClr val="6870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234440"/>
            <a:ext cx="1371600" cy="1261872"/>
          </a:xfrm>
          <a:prstGeom prst="roundRect">
            <a:avLst>
              <a:gd name="adj" fmla="val 7246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23444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743200"/>
            <a:ext cx="8449056" cy="2148840"/>
          </a:xfrm>
          <a:prstGeom prst="roundRect">
            <a:avLst>
              <a:gd name="adj" fmla="val 425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2852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in Agent.tsx (client-side)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7B75E8">
              <a:alpha val="32000"/>
            </a:srgbClr>
          </a:solidFill>
          <a:ln w="12700">
            <a:solidFill>
              <a:srgbClr val="7B75E8">
                <a:alpha val="3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91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call-start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29184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 to ACTIVE, End Call button appears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767328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7B75E8">
              <a:alpha val="32000"/>
            </a:srgbClr>
          </a:solidFill>
          <a:ln w="12700">
            <a:solidFill>
              <a:srgbClr val="7B75E8">
                <a:alpha val="3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(transcript)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376732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final transcript line appended to messages[] state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42816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7B75E8">
              <a:alpha val="32000"/>
            </a:srgbClr>
          </a:solidFill>
          <a:ln w="12700">
            <a:solidFill>
              <a:srgbClr val="7B75E8">
                <a:alpha val="3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42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call-end / error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4242816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 to FINISHED — triggers feedback or webhook fallback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 — Agent.tsx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Vapi call — questions injected as variables, metadata passed to the webhook: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8449056" cy="2514600"/>
          </a:xfrm>
          <a:prstGeom prst="roundRect">
            <a:avLst>
              <a:gd name="adj" fmla="val 3636"/>
            </a:avLst>
          </a:prstGeom>
          <a:solidFill>
            <a:srgbClr val="0B0D14"/>
          </a:solidFill>
          <a:ln w="12700">
            <a:solidFill>
              <a:srgbClr val="7B75E8">
                <a:alpha val="3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34440"/>
            <a:ext cx="80924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vapi.start(interviewer,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variableValues: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questions: hasQuestions       // pre-set OR AI-generated live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questions.join('\n')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`Generate 8 questions for ${role} ${level}...`,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metadata: { interviewId, userId }, // sent to webhook on call 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the transcript: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4005072"/>
            <a:ext cx="8449056" cy="960120"/>
          </a:xfrm>
          <a:prstGeom prst="roundRect">
            <a:avLst>
              <a:gd name="adj" fmla="val 9524"/>
            </a:avLst>
          </a:prstGeom>
          <a:solidFill>
            <a:srgbClr val="0B0D14"/>
          </a:solidFill>
          <a:ln w="12700">
            <a:solidFill>
              <a:srgbClr val="7B75E8">
                <a:alpha val="3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096512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vapi.on('message', msg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(msg.transcriptType === 'final')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setMessages(prev =&gt; [...prev, { role: msg.role, content: msg.transcript }]);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Code — Vapi Webhook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route at /API/vapi/webhook — fires when any call ends, even if the browser drops: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8449056" cy="3767328"/>
          </a:xfrm>
          <a:prstGeom prst="roundRect">
            <a:avLst>
              <a:gd name="adj" fmla="val 2427"/>
            </a:avLst>
          </a:prstGeom>
          <a:solidFill>
            <a:srgbClr val="0B0D14"/>
          </a:solidFill>
          <a:ln w="12700">
            <a:solidFill>
              <a:srgbClr val="7B75E8">
                <a:alpha val="3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34440"/>
            <a:ext cx="8092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app/API/vapi/webhook/route.ts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POST(request)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call, messages } = (await request.json()).message;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interviewId, userId } = call.metadata;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Avoid duplicates — client may have already saved feedback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existing = await db.collection('feedback')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.where('interviewId', '==', interviewId).limit(1).get();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(!existing.empty) return Response.json({ received: true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Generate structured feedback with Groq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object } = await generateObject({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groq('llama-3.3-70b-versatile'),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schema: feedbackSchema,  // Zod — forces structured JSON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prompt: `Analyze transcript and score candidate...`,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db.collection('feedback').add({ interviewId, userId, ...object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C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Generation &amp; Groq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87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interview ends, the transcript is sent to Groq's LLM which scores the candidate instantly using a structured Zod schema.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8449056" cy="3456432"/>
          </a:xfrm>
          <a:prstGeom prst="roundRect">
            <a:avLst>
              <a:gd name="adj" fmla="val 3175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840480" cy="2560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 — Vapi fires end-of-call-report webhook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extracted from call messages array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Groq llama-3.3-70b via generateObject()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forces structured JSON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comments saved to Firestore instantly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0" cy="3154680"/>
          </a:xfrm>
          <a:prstGeom prst="line">
            <a:avLst/>
          </a:prstGeom>
          <a:noFill/>
          <a:ln w="12700">
            <a:solidFill>
              <a:srgbClr val="6870A6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Evaluated Categories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2020824"/>
            <a:ext cx="256032" cy="256032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965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2569464"/>
            <a:ext cx="256032" cy="256032"/>
          </a:xfrm>
          <a:prstGeom prst="ellipse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514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Knowledge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46320" y="3118104"/>
            <a:ext cx="256032" cy="256032"/>
          </a:xfrm>
          <a:prstGeom prst="ellipse">
            <a:avLst/>
          </a:prstGeom>
          <a:solidFill>
            <a:srgbClr val="EC4899">
              <a:alpha val="82000"/>
            </a:srgbClr>
          </a:solidFill>
          <a:ln w="12700">
            <a:solidFill>
              <a:srgbClr val="EC4899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46320" y="3666744"/>
            <a:ext cx="256032" cy="256032"/>
          </a:xfrm>
          <a:prstGeom prst="ellipse">
            <a:avLst/>
          </a:prstGeom>
          <a:solidFill>
            <a:srgbClr val="10B981">
              <a:alpha val="82000"/>
            </a:srgbClr>
          </a:solidFill>
          <a:ln w="12700">
            <a:solidFill>
              <a:srgbClr val="10B981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3611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46320" y="4215384"/>
            <a:ext cx="256032" cy="256032"/>
          </a:xfrm>
          <a:prstGeom prst="ellipse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4160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Clarity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7B75E8">
              <a:alpha val="12000"/>
            </a:srgbClr>
          </a:solidFill>
          <a:ln w="12700">
            <a:solidFill>
              <a:srgbClr val="7B75E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2286000" cy="2286000"/>
          </a:xfrm>
          <a:prstGeom prst="ellipse">
            <a:avLst/>
          </a:prstGeom>
          <a:solidFill>
            <a:srgbClr val="7B75E8">
              <a:alpha val="12000"/>
            </a:srgbClr>
          </a:solidFill>
          <a:ln w="12700">
            <a:solidFill>
              <a:srgbClr val="7B75E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246120"/>
          </a:xfrm>
          <a:prstGeom prst="roundRect">
            <a:avLst>
              <a:gd name="adj" fmla="val 3380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663440" cy="2542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interview portal — Next.js and Firebase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interviews powered by Vapi + GPT-4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via Groq llama-3.3-70b + Zod schema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position management and leaderboard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visibility with Resend email notifications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fallback — feedback generated even if client drops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87568" y="1005840"/>
            <a:ext cx="3063240" cy="3246120"/>
          </a:xfrm>
          <a:prstGeom prst="roundRect">
            <a:avLst>
              <a:gd name="adj" fmla="val 3582"/>
            </a:avLst>
          </a:prstGeom>
          <a:solidFill>
            <a:srgbClr val="171A24"/>
          </a:solidFill>
          <a:ln w="12700">
            <a:solidFill>
              <a:srgbClr val="171A2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33872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C5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33872" y="1554480"/>
            <a:ext cx="2743200" cy="2240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interviews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support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and ATS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mode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5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87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e&amp;view — AI Interview Portal</dc:title>
  <dc:subject>PptxGenJS Presentation</dc:subject>
  <dc:creator>PptxGenJS</dc:creator>
  <cp:lastModifiedBy>PptxGenJS</cp:lastModifiedBy>
  <cp:revision>1</cp:revision>
  <dcterms:created xsi:type="dcterms:W3CDTF">2026-06-28T21:28:31Z</dcterms:created>
  <dcterms:modified xsi:type="dcterms:W3CDTF">2026-06-28T21:28:31Z</dcterms:modified>
</cp:coreProperties>
</file>